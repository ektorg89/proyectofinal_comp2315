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itter Medium" pitchFamily="2" charset="77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Open Sans" panose="020B0606030504020204" pitchFamily="34" charset="0"/>
      <p:regular r:id="rId18"/>
      <p:bold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715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5461" y="767283"/>
            <a:ext cx="55844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Sistema de Expedientes Médicos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1422871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Proyecto Final — COMP 2315 Programación Estructurada | Sección 202630.73752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67519" y="1809155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Prof. Dr. Edgardo Vargas Moya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195438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2640" y="23419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Ektor M. Gonzalez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648471"/>
            <a:ext cx="41691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A00617167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195438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89363" y="2341959"/>
            <a:ext cx="24783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Diego L. Rodriguez Perez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9363" y="2648471"/>
            <a:ext cx="4169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A00636906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163565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2640" y="3310086"/>
            <a:ext cx="26349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Donovan Irizarry Figueroa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640" y="3616598"/>
            <a:ext cx="41691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A00671799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163565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89363" y="331008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Carlo Ramos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89363" y="3616598"/>
            <a:ext cx="4169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A00642991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519" y="4149403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Interamericana de Puerto Rico — Recinto de Aguadilla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18778"/>
            <a:ext cx="188051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936" y="866031"/>
            <a:ext cx="215808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51409"/>
            <a:ext cx="44972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Introducción y Objetivos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9487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Contexto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11971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Dr. Rodríguez necesita digitalizar la gestión de expedientes médicos de sus pacientes, sustituyendo registros físicos por un sistema estructurado en Java.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13417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Objetivo General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497387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Desarrollar un sistema CRUD completo para la creación, búsqueda, actualización y listado de expedientes médicos.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9487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Objetivos Específicos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311971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Validar datos del paciente con expresiones regulares y métodos de cadena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Persistir información en archivos de texto para mayor durabilidad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Ofrecer una interfaz gráfica amigable mediante </a:t>
            </a:r>
            <a:r>
              <a:rPr lang="en-US" sz="11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JOptionPane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Garantizar acceso seguro mediante un sistema de autenticación por login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419546"/>
            <a:ext cx="1793156" cy="259407"/>
          </a:xfrm>
          <a:prstGeom prst="roundRect">
            <a:avLst>
              <a:gd name="adj" fmla="val 17502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8701" y="464790"/>
            <a:ext cx="2078757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730448"/>
            <a:ext cx="3976762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Tecnologías Utilizadas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901" y="1345927"/>
            <a:ext cx="337765" cy="3377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901" y="1844650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Java 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2901" y="2133005"/>
            <a:ext cx="401858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Lenguaje base del proyecto, paradigma estructurado con clases y métodos.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2442" y="1345927"/>
            <a:ext cx="337765" cy="33776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2442" y="1844650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JOptionPane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652442" y="2133005"/>
            <a:ext cx="401865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Interfaz gráfica de diálogo (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javax.swing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para interacción con el usuario.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901" y="2812777"/>
            <a:ext cx="337765" cy="3377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2901" y="3311500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java.io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72901" y="3599855"/>
            <a:ext cx="401858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FileWriter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PrintWriter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persistencia de datos en archivos.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2442" y="2812777"/>
            <a:ext cx="337765" cy="33776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52442" y="3311500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java.util.regex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652442" y="3599855"/>
            <a:ext cx="401865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Expresiones regulares para validación de formatos como SSN, fechas y número de expediente.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72901" y="4166964"/>
            <a:ext cx="8198197" cy="556915"/>
          </a:xfrm>
          <a:prstGeom prst="roundRect">
            <a:avLst>
              <a:gd name="adj" fmla="val 1019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963" y="4374654"/>
            <a:ext cx="168846" cy="1350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1870" y="4329410"/>
            <a:ext cx="808136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Todas las bibliotecas utilizadas pertenecen al ecosistema estándar de Java SE - sin dependencias externas.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298772"/>
            <a:ext cx="1382985" cy="187375"/>
          </a:xfrm>
          <a:prstGeom prst="roundRect">
            <a:avLst>
              <a:gd name="adj" fmla="val 18669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47378" y="334714"/>
            <a:ext cx="1705794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516657"/>
            <a:ext cx="3475881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Arquitectura del Sistema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80182" y="956667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sistema se organiza en </a:t>
            </a:r>
            <a:r>
              <a:rPr lang="en-US" sz="8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clases especializadas</a:t>
            </a:r>
            <a:r>
              <a:rPr lang="en-US" sz="8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siguiendo el principio de responsabilidad única.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182" y="1187053"/>
            <a:ext cx="6553200" cy="36576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82" y="1187053"/>
            <a:ext cx="6553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408608"/>
            <a:ext cx="1793156" cy="259407"/>
          </a:xfrm>
          <a:prstGeom prst="roundRect">
            <a:avLst>
              <a:gd name="adj" fmla="val 17502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58701" y="453851"/>
            <a:ext cx="2078757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719510"/>
            <a:ext cx="536428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Modelo de Datos y Validaciones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72901" y="1334988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expediente contiene </a:t>
            </a:r>
            <a:r>
              <a:rPr lang="en-US" sz="10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campos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validados con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charAt()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expresiones regulares.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2901" y="1690985"/>
            <a:ext cx="8198197" cy="3043833"/>
          </a:xfrm>
          <a:prstGeom prst="roundRect">
            <a:avLst>
              <a:gd name="adj" fmla="val 186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874" y="1777752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71813" y="1777752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Formato Requerido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37796" y="1777752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Método de Validación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874" y="2157636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Nombre del paciente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71813" y="2157636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Solo letras y espacios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37796" y="2157636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Regex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[a-zA-ZáéíóúÁÉÍÓÚ\s]+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874" y="2537520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Seguro social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71813" y="2537520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XXX-XX-XXXX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37796" y="2537520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Regex +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874" y="2917403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Número de expediente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71813" y="2917403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EXP-XXXXX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37796" y="2917403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Regex +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charAt()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874" y="3297287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Fecha de visita / nacimiento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71813" y="3297287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MM/DD/YYYY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37796" y="3297287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Regex + rango numérico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874" y="3677171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Sexo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71813" y="3677171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</a:t>
            </a: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37796" y="3677171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charAt(0)</a:t>
            </a: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comparación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874" y="4057055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Dirección, plan médico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071813" y="4057055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Texto libre no vacío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37796" y="4057055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 &gt; 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2874" y="4436938"/>
            <a:ext cx="264125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Diagnóstico y receta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71813" y="4436938"/>
            <a:ext cx="304829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Texto descriptivo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37796" y="4436938"/>
            <a:ext cx="305067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 &gt; 3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72368"/>
            <a:ext cx="1529135" cy="212154"/>
          </a:xfrm>
          <a:prstGeom prst="roundRect">
            <a:avLst>
              <a:gd name="adj" fmla="val 18243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1885" y="411659"/>
            <a:ext cx="1838697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621953"/>
            <a:ext cx="525579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Funcionalidades del Menú Principal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598066" y="1227460"/>
            <a:ext cx="1869877" cy="1014189"/>
          </a:xfrm>
          <a:prstGeom prst="roundRect">
            <a:avLst>
              <a:gd name="adj" fmla="val 477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7947" y="1347341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1. Crear expediente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947" y="1620813"/>
            <a:ext cx="1630114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Registra un nuevo paciente con todos sus campos validados.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1481" y="1227460"/>
            <a:ext cx="1869951" cy="1014189"/>
          </a:xfrm>
          <a:prstGeom prst="roundRect">
            <a:avLst>
              <a:gd name="adj" fmla="val 477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81362" y="1347341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2. Buscar por número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81362" y="1620813"/>
            <a:ext cx="1630189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Localiza un expediente usando el código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EXP-XXXXX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8066" y="2335188"/>
            <a:ext cx="3833366" cy="680219"/>
          </a:xfrm>
          <a:prstGeom prst="roundRect">
            <a:avLst>
              <a:gd name="adj" fmla="val 711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947" y="2455069"/>
            <a:ext cx="230207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3. Buscar por fecha de visita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947" y="2728540"/>
            <a:ext cx="40508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Filtra registros por fecha en formato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MM/DD/YYYY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17182" y="1227460"/>
            <a:ext cx="1869877" cy="1014189"/>
          </a:xfrm>
          <a:prstGeom prst="roundRect">
            <a:avLst>
              <a:gd name="adj" fmla="val 477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7063" y="1347341"/>
            <a:ext cx="207287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4. Actualizar expediente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37063" y="1620813"/>
            <a:ext cx="163011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Submenú de 11 campos editables individualmente.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80597" y="1227460"/>
            <a:ext cx="1869951" cy="1014189"/>
          </a:xfrm>
          <a:prstGeom prst="roundRect">
            <a:avLst>
              <a:gd name="adj" fmla="val 4770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0478" y="1347341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5. Listar todos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0478" y="1620813"/>
            <a:ext cx="1630189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Despliega todos los expedientes registrados en sesión.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17182" y="2335188"/>
            <a:ext cx="3833366" cy="680219"/>
          </a:xfrm>
          <a:prstGeom prst="roundRect">
            <a:avLst>
              <a:gd name="adj" fmla="val 711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063" y="245506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6. Salir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37063" y="2728540"/>
            <a:ext cx="405080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Cierra sesión y guarda cambios al archivo.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066" y="3260973"/>
            <a:ext cx="27609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Sistema de Login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8066" y="378283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Autenticación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066" y="4056311"/>
            <a:ext cx="2516758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Previa al menú con </a:t>
            </a:r>
            <a:r>
              <a:rPr lang="en-US" sz="9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máximo 3 intentos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mediante arreglos paralelos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USUARIOS[]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CONTRASENAS[]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00574" y="378283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Credenciales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00574" y="4067994"/>
            <a:ext cx="2434456" cy="564207"/>
          </a:xfrm>
          <a:prstGeom prst="roundRect">
            <a:avLst>
              <a:gd name="adj" fmla="val 8575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94844" y="4067994"/>
            <a:ext cx="2445916" cy="564207"/>
          </a:xfrm>
          <a:prstGeom prst="roundRect">
            <a:avLst>
              <a:gd name="adj" fmla="val 3062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38761" y="4183112"/>
            <a:ext cx="215808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admin   → admin123</a:t>
            </a:r>
            <a:endParaRPr lang="en-US" sz="9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doctor  → doc2315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0780" y="378283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Límite de Intentos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0780" y="4067994"/>
            <a:ext cx="2434456" cy="597917"/>
          </a:xfrm>
          <a:prstGeom prst="roundRect">
            <a:avLst>
              <a:gd name="adj" fmla="val 809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898" y="4239667"/>
            <a:ext cx="143917" cy="115119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494934" y="4190256"/>
            <a:ext cx="194518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Tras 3 intentos fallidos, el programa termina automáticamente.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1871" y="361504"/>
            <a:ext cx="1675358" cy="237976"/>
          </a:xfrm>
          <a:prstGeom prst="roundRect">
            <a:avLst>
              <a:gd name="adj" fmla="val 17827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2387" y="404143"/>
            <a:ext cx="1971526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7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1871" y="644426"/>
            <a:ext cx="36136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Persistencia de Datos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41871" y="1320031"/>
            <a:ext cx="252672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Archivo de almacenamiento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1871" y="1629742"/>
            <a:ext cx="269081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Los expedientes se guardan en </a:t>
            </a:r>
            <a:r>
              <a:rPr lang="en-US" sz="9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data/expedientes.txt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utilizando un formato delimitado por </a:t>
            </a:r>
            <a:r>
              <a:rPr lang="en-US" sz="9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41871" y="2315021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Ejemplo de línea 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1871" y="2638797"/>
            <a:ext cx="2690813" cy="1016198"/>
          </a:xfrm>
          <a:prstGeom prst="roundRect">
            <a:avLst>
              <a:gd name="adj" fmla="val 5218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5620" y="2638797"/>
            <a:ext cx="2703314" cy="1016198"/>
          </a:xfrm>
          <a:prstGeom prst="roundRect">
            <a:avLst>
              <a:gd name="adj" fmla="val 1864"/>
            </a:avLst>
          </a:prstGeom>
          <a:solidFill>
            <a:srgbClr val="F2E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3378" y="2765003"/>
            <a:ext cx="238779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EXP-00001|Juan Pérez|123-45-6789|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01/15/1985|M|Calle Luna 5|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BCBS|Diabetes Tipo 2|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73A49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Metformina 500mg|03/10/2025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1871" y="3781499"/>
            <a:ext cx="213717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Clases de I/O utilizadas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1871" y="4091211"/>
            <a:ext cx="2690813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FileWriter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escritura al archivo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PrintWriter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formato de líneas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</a:t>
            </a:r>
            <a:r>
              <a:rPr lang="en-US" sz="9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lectura eficiente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53" y="1804839"/>
            <a:ext cx="5199831" cy="2379762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5629" y="2399001"/>
            <a:ext cx="334321" cy="3343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7770" y="3525454"/>
            <a:ext cx="976217" cy="376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expedientes.txt</a:t>
            </a:r>
            <a:endParaRPr lang="en-US" sz="11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1701" y="2399628"/>
            <a:ext cx="334320" cy="3343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7469" y="3525454"/>
            <a:ext cx="976217" cy="376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Lectura/Escritura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8086" y="2399628"/>
            <a:ext cx="334321" cy="3343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75254" y="3619482"/>
            <a:ext cx="1204817" cy="18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Validación</a:t>
            </a:r>
            <a:endParaRPr lang="en-US" sz="11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7785" y="2399628"/>
            <a:ext cx="334321" cy="33432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524894" y="3619482"/>
            <a:ext cx="1204817" cy="18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Ingreso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344388"/>
            <a:ext cx="1529135" cy="212154"/>
          </a:xfrm>
          <a:prstGeom prst="roundRect">
            <a:avLst>
              <a:gd name="adj" fmla="val 18243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1885" y="383679"/>
            <a:ext cx="1838697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593973"/>
            <a:ext cx="4607719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Requisitos Técnicos Cumplidos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98066" y="1094259"/>
            <a:ext cx="8404994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proyecto satisface la totalidad de los requerimientos establecidos para el curso </a:t>
            </a:r>
            <a:r>
              <a:rPr lang="en-US" sz="9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8066" y="1366465"/>
            <a:ext cx="3927128" cy="1081832"/>
          </a:xfrm>
          <a:prstGeom prst="roundRect">
            <a:avLst>
              <a:gd name="adj" fmla="val 44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7947" y="1486346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974" y="1581299"/>
            <a:ext cx="155451" cy="1554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7947" y="192538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JOptionPane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7947" y="2161431"/>
            <a:ext cx="414456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Interfaz gráfica para entrada y salida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8732" y="1366465"/>
            <a:ext cx="3927128" cy="1081832"/>
          </a:xfrm>
          <a:prstGeom prst="roundRect">
            <a:avLst>
              <a:gd name="adj" fmla="val 44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38613" y="1486346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3640" y="1581299"/>
            <a:ext cx="155451" cy="1554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8613" y="192538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if / else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38613" y="2161431"/>
            <a:ext cx="414456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Estructuras de decisión en validaciones y menús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98066" y="2541836"/>
            <a:ext cx="3927128" cy="1081832"/>
          </a:xfrm>
          <a:prstGeom prst="roundRect">
            <a:avLst>
              <a:gd name="adj" fmla="val 44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7947" y="2661717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974" y="2756669"/>
            <a:ext cx="155451" cy="1554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947" y="310076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while / do-while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17947" y="3336801"/>
            <a:ext cx="414456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de flujo en login y menús iterativos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618732" y="2541836"/>
            <a:ext cx="3927128" cy="1081832"/>
          </a:xfrm>
          <a:prstGeom prst="roundRect">
            <a:avLst>
              <a:gd name="adj" fmla="val 44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38613" y="2661717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3640" y="2756669"/>
            <a:ext cx="155451" cy="15545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38613" y="310076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for indexado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738613" y="3336801"/>
            <a:ext cx="414456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Recorrido del arreglo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Paciente[100]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98066" y="3717206"/>
            <a:ext cx="3927128" cy="1081832"/>
          </a:xfrm>
          <a:prstGeom prst="roundRect">
            <a:avLst>
              <a:gd name="adj" fmla="val 44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717947" y="3837087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974" y="3932039"/>
            <a:ext cx="155451" cy="15545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7947" y="427613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switch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17947" y="4512171"/>
            <a:ext cx="414456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Selección de opciones en menú principal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618732" y="3717206"/>
            <a:ext cx="3927128" cy="1081832"/>
          </a:xfrm>
          <a:prstGeom prst="roundRect">
            <a:avLst>
              <a:gd name="adj" fmla="val 4472"/>
            </a:avLst>
          </a:prstGeom>
          <a:solidFill>
            <a:srgbClr val="FCE2CF"/>
          </a:solidFill>
          <a:ln w="4763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4738613" y="3837087"/>
            <a:ext cx="345504" cy="345504"/>
          </a:xfrm>
          <a:prstGeom prst="roundRect">
            <a:avLst>
              <a:gd name="adj" fmla="val 16539399"/>
            </a:avLst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3640" y="3932039"/>
            <a:ext cx="155451" cy="15545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738613" y="4276130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Archivos I/O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4738613" y="4512171"/>
            <a:ext cx="414456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FileReader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/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PrintWriter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para persistencia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30027"/>
            <a:ext cx="1880518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936" y="977280"/>
            <a:ext cx="215808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62658"/>
            <a:ext cx="47875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Demostración del Sistema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8246"/>
            <a:ext cx="1104900" cy="68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7824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Pantalla de Login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084761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sistema solicita usuario y contraseña antes de permitir el acceso. Máximo 3 intentos.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918246"/>
            <a:ext cx="1104900" cy="6828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8298" y="277824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Menú Principal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78298" y="3084761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 6 opciones del sistema presentadas mediante </a:t>
            </a:r>
            <a:r>
              <a:rPr lang="en-US" sz="11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JOptionPane.showInputDialog</a:t>
            </a: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918246"/>
            <a:ext cx="1104900" cy="6828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0553" y="277824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Crear Expediente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660553" y="3084761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sistema guía al usuario campo a campo, validando cada entrada antes de continuar.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918246"/>
            <a:ext cx="1104900" cy="68282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807" y="2778249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Resultado de Búsqueda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742807" y="3306217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Muestra el expediente localizado formateado en un mensaje de confirmación claro.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28910"/>
            <a:ext cx="1588071" cy="222349"/>
          </a:xfrm>
          <a:prstGeom prst="roundRect">
            <a:avLst>
              <a:gd name="adj" fmla="val 18076"/>
            </a:avLst>
          </a:prstGeom>
          <a:noFill/>
          <a:ln w="4763">
            <a:solidFill>
              <a:srgbClr val="D260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717" y="369540"/>
            <a:ext cx="1892275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 2315 — PROYECTO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45219" y="591592"/>
            <a:ext cx="3470225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Conclusiones y Cierre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17" y="1120378"/>
            <a:ext cx="179412" cy="179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884" y="1116732"/>
            <a:ext cx="303311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Programación Estructurada Aplicada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33884" y="1364084"/>
            <a:ext cx="8310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Dominamos estructuras de control, métodos y arreglos en un contexto real y funcional.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17" y="1745903"/>
            <a:ext cx="179412" cy="1794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3884" y="1742256"/>
            <a:ext cx="248118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Validación y Calidad de Datos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33884" y="1989609"/>
            <a:ext cx="8310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Aprendimos a garantizar integridad mediante regex,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charAt()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 </a:t>
            </a:r>
            <a:r>
              <a:rPr lang="en-US" sz="900" dirty="0">
                <a:solidFill>
                  <a:srgbClr val="2B2E3C"/>
                </a:solidFill>
                <a:highlight>
                  <a:srgbClr val="F2EB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</a:t>
            </a: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17" y="2371427"/>
            <a:ext cx="179412" cy="1794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3884" y="2367781"/>
            <a:ext cx="223926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Persistencia con Archivos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33884" y="2615133"/>
            <a:ext cx="8310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Implementamos almacenamiento real en texto plano con lectura y escritura eficiente.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17" y="2996952"/>
            <a:ext cx="179412" cy="1794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3884" y="2993306"/>
            <a:ext cx="312650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Trabajo Colaborativo y Modularización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833884" y="3240658"/>
            <a:ext cx="8310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Dividimos responsabilidades en 6 clases cohesivas, reforzando buenas prácticas de diseño.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2369716" y="3681859"/>
            <a:ext cx="4355306" cy="515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18" name="Shape 12"/>
          <p:cNvSpPr/>
          <p:nvPr/>
        </p:nvSpPr>
        <p:spPr>
          <a:xfrm>
            <a:off x="445219" y="3530501"/>
            <a:ext cx="14288" cy="818555"/>
          </a:xfrm>
          <a:prstGeom prst="rect">
            <a:avLst/>
          </a:prstGeom>
          <a:solidFill>
            <a:srgbClr val="D260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445219" y="4462537"/>
            <a:ext cx="82534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Ektor Gonzalez · Diego Rodriguez · Donovan Irizarry · Carlo Ramos</a:t>
            </a:r>
            <a:endParaRPr lang="en-US" sz="900" dirty="0"/>
          </a:p>
          <a:p>
            <a:pPr marL="0" indent="0" algn="ctr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Interamericana de PR — Recinto de Aguadilla | COMP 2315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826</Words>
  <Application>Microsoft Macintosh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Consolas</vt:lpstr>
      <vt:lpstr>Bitter Medium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EKTOR M GONZALEZ RAMOS</cp:lastModifiedBy>
  <cp:revision>1</cp:revision>
  <dcterms:created xsi:type="dcterms:W3CDTF">2026-05-17T00:18:17Z</dcterms:created>
  <dcterms:modified xsi:type="dcterms:W3CDTF">2026-05-17T00:21:30Z</dcterms:modified>
</cp:coreProperties>
</file>